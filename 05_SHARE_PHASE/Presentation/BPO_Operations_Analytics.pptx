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iberation Sans Bold" charset="1" panose="020B0704020202020204"/>
      <p:regular r:id="rId14"/>
    </p:embeddedFont>
    <p:embeddedFont>
      <p:font typeface="Liberation Sans" charset="1" panose="020B06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4500" y="8316766"/>
            <a:ext cx="71438" cy="827234"/>
          </a:xfrm>
          <a:custGeom>
            <a:avLst/>
            <a:gdLst/>
            <a:ahLst/>
            <a:cxnLst/>
            <a:rect r="r" b="b" t="t" l="l"/>
            <a:pathLst>
              <a:path h="827234" w="71438">
                <a:moveTo>
                  <a:pt x="0" y="0"/>
                </a:moveTo>
                <a:lnTo>
                  <a:pt x="71438" y="0"/>
                </a:lnTo>
                <a:lnTo>
                  <a:pt x="71438" y="827234"/>
                </a:lnTo>
                <a:lnTo>
                  <a:pt x="0" y="827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4500" y="2669179"/>
            <a:ext cx="10450187" cy="113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b="true" sz="650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BPO Operations Analytics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46676" y="3896844"/>
            <a:ext cx="144054" cy="69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4500" y="3896844"/>
            <a:ext cx="9618607" cy="69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SLA</a:t>
            </a:r>
            <a:r>
              <a:rPr lang="en-US" sz="40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</a:t>
            </a:r>
            <a:r>
              <a:rPr lang="en-US" sz="4000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Performance</a:t>
            </a:r>
            <a:r>
              <a:rPr lang="en-US" sz="40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</a:t>
            </a:r>
            <a:r>
              <a:rPr lang="en-US" sz="4000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&amp;</a:t>
            </a:r>
            <a:r>
              <a:rPr lang="en-US" sz="40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</a:t>
            </a:r>
            <a:r>
              <a:rPr lang="en-US" sz="4000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Systemic</a:t>
            </a:r>
            <a:r>
              <a:rPr lang="en-US" sz="40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</a:t>
            </a:r>
            <a:r>
              <a:rPr lang="en-US" sz="4000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Bottlenecks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" y="5150965"/>
            <a:ext cx="9330761" cy="52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Executive Presentation &amp; Strategic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8838" y="8326112"/>
            <a:ext cx="1979366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444444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Danish Khan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32342" y="8758476"/>
            <a:ext cx="81022" cy="39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666666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8838" y="8758476"/>
            <a:ext cx="1636288" cy="39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666666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Data</a:t>
            </a:r>
            <a:r>
              <a:rPr lang="en-US" sz="225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</a:t>
            </a:r>
            <a:r>
              <a:rPr lang="en-US" sz="2250">
                <a:solidFill>
                  <a:srgbClr val="666666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Analyst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000" y="1474053"/>
            <a:ext cx="16002000" cy="35719"/>
          </a:xfrm>
          <a:custGeom>
            <a:avLst/>
            <a:gdLst/>
            <a:ahLst/>
            <a:cxnLst/>
            <a:rect r="r" b="b" t="t" l="l"/>
            <a:pathLst>
              <a:path h="35719" w="16002000">
                <a:moveTo>
                  <a:pt x="0" y="0"/>
                </a:moveTo>
                <a:lnTo>
                  <a:pt x="16002000" y="0"/>
                </a:lnTo>
                <a:lnTo>
                  <a:pt x="16002000" y="35719"/>
                </a:lnTo>
                <a:lnTo>
                  <a:pt x="0" y="35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3000" y="561737"/>
            <a:ext cx="6941987" cy="81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b="true" sz="475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The Business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5129760"/>
            <a:ext cx="16110561" cy="18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2750">
                <a:solidFill>
                  <a:srgbClr val="33333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Goal:</a:t>
            </a:r>
          </a:p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Identify operational bottlenecks and process failures across channels to design targeted routing adjustments and staffing strategies.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7482090"/>
            <a:ext cx="8603397" cy="123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b="true" sz="2750">
                <a:solidFill>
                  <a:srgbClr val="33333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Scope: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Analysis of over 200,000 historical customer support tickets.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2834592"/>
            <a:ext cx="16163032" cy="18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2750">
                <a:solidFill>
                  <a:srgbClr val="33333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Primary Question:</a:t>
            </a:r>
          </a:p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Why is the organization failing to meet its 48-hour Service Level Agreements, and how is this impacting customer satisfaction?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13809"/>
            <a:ext cx="6445246" cy="1631954"/>
          </a:xfrm>
          <a:custGeom>
            <a:avLst/>
            <a:gdLst/>
            <a:ahLst/>
            <a:cxnLst/>
            <a:rect r="r" b="b" t="t" l="l"/>
            <a:pathLst>
              <a:path h="1631954" w="6445246">
                <a:moveTo>
                  <a:pt x="0" y="0"/>
                </a:moveTo>
                <a:lnTo>
                  <a:pt x="6445246" y="0"/>
                </a:lnTo>
                <a:lnTo>
                  <a:pt x="6445246" y="1631954"/>
                </a:lnTo>
                <a:lnTo>
                  <a:pt x="0" y="1631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3000" y="1474053"/>
            <a:ext cx="16002000" cy="35719"/>
          </a:xfrm>
          <a:custGeom>
            <a:avLst/>
            <a:gdLst/>
            <a:ahLst/>
            <a:cxnLst/>
            <a:rect r="r" b="b" t="t" l="l"/>
            <a:pathLst>
              <a:path h="35719" w="16002000">
                <a:moveTo>
                  <a:pt x="0" y="0"/>
                </a:moveTo>
                <a:lnTo>
                  <a:pt x="16002000" y="0"/>
                </a:lnTo>
                <a:lnTo>
                  <a:pt x="16002000" y="35719"/>
                </a:lnTo>
                <a:lnTo>
                  <a:pt x="0" y="35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04397" y="2714446"/>
            <a:ext cx="9397996" cy="7111996"/>
          </a:xfrm>
          <a:custGeom>
            <a:avLst/>
            <a:gdLst/>
            <a:ahLst/>
            <a:cxnLst/>
            <a:rect r="r" b="b" t="t" l="l"/>
            <a:pathLst>
              <a:path h="7111996" w="9397996">
                <a:moveTo>
                  <a:pt x="0" y="0"/>
                </a:moveTo>
                <a:lnTo>
                  <a:pt x="9397996" y="0"/>
                </a:lnTo>
                <a:lnTo>
                  <a:pt x="9397996" y="7111996"/>
                </a:lnTo>
                <a:lnTo>
                  <a:pt x="0" y="71119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623" t="0" r="-4907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43000" y="4364938"/>
            <a:ext cx="4620006" cy="488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b="true" sz="2750">
                <a:solidFill>
                  <a:srgbClr val="33333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40,029 Total Closed Tickets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3919" y="5042321"/>
            <a:ext cx="90035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D9534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6515517"/>
            <a:ext cx="3236881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5CB85C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7,974 Met SLA (&lt;48h)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47772" y="7102090"/>
            <a:ext cx="72021" cy="33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666666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5042321"/>
            <a:ext cx="4335054" cy="43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D9534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32,055</a:t>
            </a:r>
            <a:r>
              <a:rPr lang="en-US" b="true" sz="2499">
                <a:solidFill>
                  <a:srgbClr val="000000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 </a:t>
            </a:r>
            <a:r>
              <a:rPr lang="en-US" b="true" sz="2499">
                <a:solidFill>
                  <a:srgbClr val="D9534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Breached</a:t>
            </a:r>
            <a:r>
              <a:rPr lang="en-US" b="true" sz="2499">
                <a:solidFill>
                  <a:srgbClr val="000000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 </a:t>
            </a:r>
            <a:r>
              <a:rPr lang="en-US" b="true" sz="2499">
                <a:solidFill>
                  <a:srgbClr val="D9534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SLA</a:t>
            </a:r>
            <a:r>
              <a:rPr lang="en-US" b="true" sz="2499">
                <a:solidFill>
                  <a:srgbClr val="000000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 </a:t>
            </a:r>
            <a:r>
              <a:rPr lang="en-US" b="true" sz="2499">
                <a:solidFill>
                  <a:srgbClr val="D9534F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(&gt;48h)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47772" y="5628882"/>
            <a:ext cx="72021" cy="33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666666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88625" y="561737"/>
            <a:ext cx="171057" cy="81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b="true" sz="475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9831" y="1974271"/>
            <a:ext cx="5782985" cy="99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0"/>
              </a:lnSpc>
            </a:pPr>
            <a:r>
              <a:rPr lang="en-US" b="true" sz="2499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Key Finding: 80% of all closed tickets fail to meet the 48-hour SLA deadline.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561737"/>
            <a:ext cx="13490297" cy="81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b="true" sz="475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Overall SLA Performance :The 80%</a:t>
            </a:r>
            <a:r>
              <a:rPr lang="en-US" b="true" sz="4750">
                <a:solidFill>
                  <a:srgbClr val="000000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 </a:t>
            </a:r>
            <a:r>
              <a:rPr lang="en-US" b="true" sz="475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Crisis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7102090"/>
            <a:ext cx="3681270" cy="33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666666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(19.92% - TheSuccessfulCore)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5628882"/>
            <a:ext cx="3926098" cy="33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666666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(80.08% - TheOperationalDeficit)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325" y="2495550"/>
            <a:ext cx="6445246" cy="2647950"/>
          </a:xfrm>
          <a:custGeom>
            <a:avLst/>
            <a:gdLst/>
            <a:ahLst/>
            <a:cxnLst/>
            <a:rect r="r" b="b" t="t" l="l"/>
            <a:pathLst>
              <a:path h="2647950" w="6445246">
                <a:moveTo>
                  <a:pt x="0" y="0"/>
                </a:moveTo>
                <a:lnTo>
                  <a:pt x="6445246" y="0"/>
                </a:lnTo>
                <a:lnTo>
                  <a:pt x="6445246" y="2647950"/>
                </a:lnTo>
                <a:lnTo>
                  <a:pt x="0" y="2647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143" y="1384405"/>
            <a:ext cx="16002000" cy="35719"/>
          </a:xfrm>
          <a:custGeom>
            <a:avLst/>
            <a:gdLst/>
            <a:ahLst/>
            <a:cxnLst/>
            <a:rect r="r" b="b" t="t" l="l"/>
            <a:pathLst>
              <a:path h="35719" w="16002000">
                <a:moveTo>
                  <a:pt x="0" y="0"/>
                </a:moveTo>
                <a:lnTo>
                  <a:pt x="16002000" y="0"/>
                </a:lnTo>
                <a:lnTo>
                  <a:pt x="16002000" y="35719"/>
                </a:lnTo>
                <a:lnTo>
                  <a:pt x="0" y="35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25438" y="2801752"/>
            <a:ext cx="11562562" cy="5222874"/>
          </a:xfrm>
          <a:custGeom>
            <a:avLst/>
            <a:gdLst/>
            <a:ahLst/>
            <a:cxnLst/>
            <a:rect r="r" b="b" t="t" l="l"/>
            <a:pathLst>
              <a:path h="5222874" w="11562562">
                <a:moveTo>
                  <a:pt x="0" y="0"/>
                </a:moveTo>
                <a:lnTo>
                  <a:pt x="11562562" y="0"/>
                </a:lnTo>
                <a:lnTo>
                  <a:pt x="11562562" y="5222873"/>
                </a:lnTo>
                <a:lnTo>
                  <a:pt x="0" y="52228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0" t="0" r="-550" b="-50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0325" y="568220"/>
            <a:ext cx="13028069" cy="81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b="true" sz="475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Channel Bottlenecks: Systemic Floor Delays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412" y="2687452"/>
            <a:ext cx="5723072" cy="201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Key Finding: The failure is not isolated. Every single department is missing the 48-hour target by exactly the same margin.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0325" y="5298888"/>
            <a:ext cx="5756112" cy="3346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444444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Phone &amp; Email (~120.7 hours):</a:t>
            </a:r>
          </a:p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Highest volume channels are trapped in identical backlog loops.</a:t>
            </a:r>
          </a:p>
          <a:p>
            <a:pPr algn="l" rtl="true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444444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Chat &amp; Social (~119.5 hours): </a:t>
            </a: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Expected "rapid response" channels are failing to provide expedited resolution.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3621" y="2435221"/>
            <a:ext cx="6445246" cy="1631954"/>
          </a:xfrm>
          <a:custGeom>
            <a:avLst/>
            <a:gdLst/>
            <a:ahLst/>
            <a:cxnLst/>
            <a:rect r="r" b="b" t="t" l="l"/>
            <a:pathLst>
              <a:path h="1631954" w="6445246">
                <a:moveTo>
                  <a:pt x="0" y="0"/>
                </a:moveTo>
                <a:lnTo>
                  <a:pt x="6445246" y="0"/>
                </a:lnTo>
                <a:lnTo>
                  <a:pt x="6445246" y="1631954"/>
                </a:lnTo>
                <a:lnTo>
                  <a:pt x="0" y="1631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3000" y="1474053"/>
            <a:ext cx="16002000" cy="35719"/>
          </a:xfrm>
          <a:custGeom>
            <a:avLst/>
            <a:gdLst/>
            <a:ahLst/>
            <a:cxnLst/>
            <a:rect r="r" b="b" t="t" l="l"/>
            <a:pathLst>
              <a:path h="35719" w="16002000">
                <a:moveTo>
                  <a:pt x="0" y="0"/>
                </a:moveTo>
                <a:lnTo>
                  <a:pt x="16002000" y="0"/>
                </a:lnTo>
                <a:lnTo>
                  <a:pt x="16002000" y="35719"/>
                </a:lnTo>
                <a:lnTo>
                  <a:pt x="0" y="35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66500" y="2754155"/>
            <a:ext cx="11823420" cy="5502007"/>
          </a:xfrm>
          <a:custGeom>
            <a:avLst/>
            <a:gdLst/>
            <a:ahLst/>
            <a:cxnLst/>
            <a:rect r="r" b="b" t="t" l="l"/>
            <a:pathLst>
              <a:path h="5502007" w="11823420">
                <a:moveTo>
                  <a:pt x="0" y="0"/>
                </a:moveTo>
                <a:lnTo>
                  <a:pt x="11823420" y="0"/>
                </a:lnTo>
                <a:lnTo>
                  <a:pt x="11823420" y="5502007"/>
                </a:lnTo>
                <a:lnTo>
                  <a:pt x="0" y="55020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38" t="0" r="-62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1131" y="2695396"/>
            <a:ext cx="5723727" cy="99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Key Finding: The internal IT routing system is actively failing its purpose.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4282892"/>
            <a:ext cx="6205609" cy="2330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444444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Urgent (121.1 hours):</a:t>
            </a:r>
          </a:p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Automated systems tag tickets as "Urgent", but they take the longest time to resolve.</a:t>
            </a:r>
          </a:p>
          <a:p>
            <a:pPr algn="l" rtl="true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444444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Low (119.9 hours):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6632400"/>
            <a:ext cx="6335482" cy="28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Lowest priority tickets are being resolved faster than emergencies.</a:t>
            </a:r>
          </a:p>
          <a:p>
            <a:pPr algn="l" rtl="true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444444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Insight:</a:t>
            </a: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 Agents are cherry-picking easier, low-priority tickets from the queue instead of adhering to forced priority routing.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526899"/>
            <a:ext cx="12635210" cy="81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b="true" sz="475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Priority Routing : Inverted Resolution Times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5678" y="2434935"/>
            <a:ext cx="6445246" cy="2139946"/>
          </a:xfrm>
          <a:custGeom>
            <a:avLst/>
            <a:gdLst/>
            <a:ahLst/>
            <a:cxnLst/>
            <a:rect r="r" b="b" t="t" l="l"/>
            <a:pathLst>
              <a:path h="2139946" w="6445246">
                <a:moveTo>
                  <a:pt x="0" y="0"/>
                </a:moveTo>
                <a:lnTo>
                  <a:pt x="6445246" y="0"/>
                </a:lnTo>
                <a:lnTo>
                  <a:pt x="6445246" y="2139946"/>
                </a:lnTo>
                <a:lnTo>
                  <a:pt x="0" y="2139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5678" y="1385782"/>
            <a:ext cx="16002000" cy="35719"/>
          </a:xfrm>
          <a:custGeom>
            <a:avLst/>
            <a:gdLst/>
            <a:ahLst/>
            <a:cxnLst/>
            <a:rect r="r" b="b" t="t" l="l"/>
            <a:pathLst>
              <a:path h="35719" w="16002000">
                <a:moveTo>
                  <a:pt x="0" y="0"/>
                </a:moveTo>
                <a:lnTo>
                  <a:pt x="16002000" y="0"/>
                </a:lnTo>
                <a:lnTo>
                  <a:pt x="16002000" y="35719"/>
                </a:lnTo>
                <a:lnTo>
                  <a:pt x="0" y="35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68857" y="2434935"/>
            <a:ext cx="12119143" cy="5542210"/>
          </a:xfrm>
          <a:custGeom>
            <a:avLst/>
            <a:gdLst/>
            <a:ahLst/>
            <a:cxnLst/>
            <a:rect r="r" b="b" t="t" l="l"/>
            <a:pathLst>
              <a:path h="5542210" w="12119143">
                <a:moveTo>
                  <a:pt x="0" y="0"/>
                </a:moveTo>
                <a:lnTo>
                  <a:pt x="12119143" y="0"/>
                </a:lnTo>
                <a:lnTo>
                  <a:pt x="12119143" y="5542210"/>
                </a:lnTo>
                <a:lnTo>
                  <a:pt x="0" y="55422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97" t="-644" r="0" b="-64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5678" y="568220"/>
            <a:ext cx="7274273" cy="81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b="true" sz="475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High-Value Revenue Risk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2089" y="2695396"/>
            <a:ext cx="5471124" cy="1504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Key Finding: Corporate clients are waiting identically long as standard users, risking contract renewals.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1835" y="4695203"/>
            <a:ext cx="6011632" cy="385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444444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Corporate Segment:</a:t>
            </a:r>
          </a:p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Our highest revenue drivers wait over 117 hours across all channels, receiving no dedicated expedited service.</a:t>
            </a:r>
          </a:p>
          <a:p>
            <a:pPr algn="l" rtl="true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b="true" sz="2499">
                <a:solidFill>
                  <a:srgbClr val="444444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Small Business &amp; Individual:</a:t>
            </a:r>
          </a:p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Wait times are evenly distributed, proving there is no VIP routing protocol in place.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000" y="1474053"/>
            <a:ext cx="16002000" cy="35719"/>
          </a:xfrm>
          <a:custGeom>
            <a:avLst/>
            <a:gdLst/>
            <a:ahLst/>
            <a:cxnLst/>
            <a:rect r="r" b="b" t="t" l="l"/>
            <a:pathLst>
              <a:path h="35719" w="16002000">
                <a:moveTo>
                  <a:pt x="0" y="0"/>
                </a:moveTo>
                <a:lnTo>
                  <a:pt x="16002000" y="0"/>
                </a:lnTo>
                <a:lnTo>
                  <a:pt x="16002000" y="35719"/>
                </a:lnTo>
                <a:lnTo>
                  <a:pt x="0" y="35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3000" y="561737"/>
            <a:ext cx="8308598" cy="81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b="true" sz="475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Strategic 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4893862"/>
            <a:ext cx="15906869" cy="18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2750">
                <a:solidFill>
                  <a:srgbClr val="33333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2. Launch a Dedicated VIP Queue</a:t>
            </a:r>
          </a:p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Protect high-revenue contracts by pulling the top 10% of senior agents off the general floor. Dedicate this rapid- response unit strictly to the 'Corporate' customer segment.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7189029"/>
            <a:ext cx="15354371" cy="18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2750">
                <a:solidFill>
                  <a:srgbClr val="33333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3. Immediate Headcount &amp; Budget Review</a:t>
            </a:r>
          </a:p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Process fixes cannot solve a fundamental lack of resources. Because all channels are operating at 2.5x the allowed SLA time, an immediate budget request for increased general headcount is required.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2598682"/>
            <a:ext cx="15903952" cy="18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2750">
                <a:solidFill>
                  <a:srgbClr val="333333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1. Audit IT Routing &amp; Implement Force-Routing</a:t>
            </a:r>
          </a:p>
          <a:p>
            <a:pPr algn="l">
              <a:lnSpc>
                <a:spcPts val="4000"/>
              </a:lnSpc>
            </a:pPr>
            <a:r>
              <a:rPr lang="en-US" sz="2499">
                <a:solidFill>
                  <a:srgbClr val="444444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Investigate the CRM logic immediately. Remove the UI capability for floor agents to manually cherry-pick easier tickets. Implement a strict "next-in-queue" automated push to ensure Urgent tickets are handled first.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61028" y="2830187"/>
            <a:ext cx="3433453" cy="60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9000">
                <a:solidFill>
                  <a:srgbClr val="1A4F8B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Thank You</a:t>
            </a:r>
          </a:p>
          <a:p>
            <a:pPr algn="ctr">
              <a:lnSpc>
                <a:spcPts val="5599"/>
              </a:lnSpc>
            </a:pPr>
            <a:r>
              <a:rPr lang="en-US" sz="3499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Data-</a:t>
            </a:r>
          </a:p>
          <a:p>
            <a:pPr algn="ctr">
              <a:lnSpc>
                <a:spcPts val="5599"/>
              </a:lnSpc>
            </a:pPr>
            <a:r>
              <a:rPr lang="en-US" sz="3499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Driven</a:t>
            </a:r>
          </a:p>
          <a:p>
            <a:pPr algn="ctr">
              <a:lnSpc>
                <a:spcPts val="5599"/>
              </a:lnSpc>
            </a:pPr>
            <a:r>
              <a:rPr lang="en-US" sz="3499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Decisions</a:t>
            </a:r>
          </a:p>
          <a:p>
            <a:pPr algn="ctr">
              <a:lnSpc>
                <a:spcPts val="5599"/>
              </a:lnSpc>
            </a:pPr>
            <a:r>
              <a:rPr lang="en-US" sz="3499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for BPO's</a:t>
            </a:r>
          </a:p>
          <a:p>
            <a:pPr algn="ctr">
              <a:lnSpc>
                <a:spcPts val="5599"/>
              </a:lnSpc>
            </a:pPr>
            <a:r>
              <a:rPr lang="en-US" sz="3499">
                <a:solidFill>
                  <a:srgbClr val="555555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DAHIGmTkPGQ</dc:identifier>
  <dcterms:modified xsi:type="dcterms:W3CDTF">2011-08-01T06:04:30Z</dcterms:modified>
  <cp:revision>1</cp:revision>
  <dc:title>Overall SLAPerformance :The 80 % Crisis</dc:title>
</cp:coreProperties>
</file>